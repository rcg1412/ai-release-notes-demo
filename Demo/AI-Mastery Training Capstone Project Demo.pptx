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292" r:id="rId5"/>
    <p:sldId id="293" r:id="rId6"/>
    <p:sldId id="297" r:id="rId7"/>
    <p:sldId id="294" r:id="rId8"/>
    <p:sldId id="295" r:id="rId9"/>
    <p:sldId id="289"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839" autoAdjust="0"/>
  </p:normalViewPr>
  <p:slideViewPr>
    <p:cSldViewPr snapToGrid="0" showGuides="1">
      <p:cViewPr varScale="1">
        <p:scale>
          <a:sx n="64" d="100"/>
          <a:sy n="64" d="100"/>
        </p:scale>
        <p:origin x="978" y="78"/>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10/4/2026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10/4/2026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CE269-A24E-7C82-16C2-F8112AFA9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F2061-76F3-21D0-5572-04CB25599349}"/>
              </a:ext>
            </a:extLst>
          </p:cNvPr>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a:extLst>
              <a:ext uri="{FF2B5EF4-FFF2-40B4-BE49-F238E27FC236}">
                <a16:creationId xmlns:a16="http://schemas.microsoft.com/office/drawing/2014/main" id="{61B05495-2F78-5997-5D56-EC0FEEB6F79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B45C149-B7E9-5B89-51BF-BD9F622B071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1826701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EEFE0-971E-1F39-F3DD-5A76A13B8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B067F-463A-8CEE-6D39-3D40FC1F830D}"/>
              </a:ext>
            </a:extLst>
          </p:cNvPr>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a:extLst>
              <a:ext uri="{FF2B5EF4-FFF2-40B4-BE49-F238E27FC236}">
                <a16:creationId xmlns:a16="http://schemas.microsoft.com/office/drawing/2014/main" id="{014FBB7D-8DB9-3D43-48CD-17B653342D7B}"/>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C4E30967-9DD7-BEC6-F4B8-CCC5890E937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2230677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0347-EE2C-1FE1-DB5B-6CEA93B12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8C103-673D-94B9-F718-FF2FBCED6D7F}"/>
              </a:ext>
            </a:extLst>
          </p:cNvPr>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a:extLst>
              <a:ext uri="{FF2B5EF4-FFF2-40B4-BE49-F238E27FC236}">
                <a16:creationId xmlns:a16="http://schemas.microsoft.com/office/drawing/2014/main" id="{FA783275-0EDB-25F6-2C30-858A5F9B1315}"/>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80C3C92-8CF2-B5DB-1DC8-2A95BB70ADB0}"/>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2873546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endParaRPr lang="en-US" altLang="zh-CN"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69" r:id="rId4"/>
    <p:sldLayoutId id="2147483655" r:id="rId5"/>
    <p:sldLayoutId id="2147483651" r:id="rId6"/>
    <p:sldLayoutId id="2147483662" r:id="rId7"/>
    <p:sldLayoutId id="2147483653" r:id="rId8"/>
    <p:sldLayoutId id="2147483663" r:id="rId9"/>
    <p:sldLayoutId id="2147483665" r:id="rId10"/>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RCG1412/ai-release-notes-demo.gi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53097" y="209862"/>
            <a:ext cx="7368034" cy="2659254"/>
          </a:xfrm>
        </p:spPr>
        <p:txBody>
          <a:bodyPr lIns="0" anchor="b" anchorCtr="0">
            <a:normAutofit/>
          </a:bodyPr>
          <a:lstStyle/>
          <a:p>
            <a:r>
              <a:rPr lang="en-US" altLang="zh-CN" dirty="0"/>
              <a:t>Capstone Project Demo </a:t>
            </a:r>
            <a:br>
              <a:rPr lang="en-US" altLang="zh-CN" dirty="0"/>
            </a:br>
            <a:br>
              <a:rPr lang="en-US" altLang="zh-CN" dirty="0"/>
            </a:br>
            <a:r>
              <a:rPr lang="en-US" altLang="zh-CN" sz="3200" dirty="0"/>
              <a:t>Release Notes Generator</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Rohit Gupta</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47961" y="116325"/>
            <a:ext cx="8142650" cy="693145"/>
          </a:xfrm>
        </p:spPr>
        <p:txBody>
          <a:bodyPr>
            <a:normAutofit/>
          </a:bodyPr>
          <a:lstStyle/>
          <a:p>
            <a:pPr marL="342900" indent="-342900">
              <a:buFont typeface="Wingdings" panose="05000000000000000000" pitchFamily="2" charset="2"/>
              <a:buChar char="v"/>
            </a:pPr>
            <a:r>
              <a:rPr lang="en-US" sz="2000" dirty="0"/>
              <a:t>Problem Statement: Release Note – A manual bottleneck</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59968" y="933887"/>
            <a:ext cx="7375161" cy="2094127"/>
          </a:xfrm>
        </p:spPr>
        <p:txBody>
          <a:bodyPr>
            <a:normAutofit/>
          </a:bodyPr>
          <a:lstStyle/>
          <a:p>
            <a:r>
              <a:rPr lang="en-US" sz="1600" b="1" dirty="0"/>
              <a:t>Release notes generation is a manual, time-consuming bottleneck that can produce inconsistent results.</a:t>
            </a:r>
          </a:p>
          <a:p>
            <a:pPr marL="285750" indent="-285750">
              <a:buFont typeface="Arial" panose="020B0604020202020204" pitchFamily="34" charset="0"/>
              <a:buChar char="•"/>
            </a:pPr>
            <a:r>
              <a:rPr lang="en-US" sz="1600" dirty="0"/>
              <a:t>Technical writers spend hours translating developer jargon into user-friendly language.</a:t>
            </a:r>
          </a:p>
          <a:p>
            <a:pPr marL="285750" indent="-285750">
              <a:buFont typeface="Arial" panose="020B0604020202020204" pitchFamily="34" charset="0"/>
              <a:buChar char="•"/>
            </a:pPr>
            <a:r>
              <a:rPr lang="en-US" sz="1600" dirty="0"/>
              <a:t>Writing style varies across writers, versions, and issue types.</a:t>
            </a:r>
          </a:p>
          <a:p>
            <a:pPr marL="285750" indent="-285750">
              <a:buFont typeface="Arial" panose="020B0604020202020204" pitchFamily="34" charset="0"/>
              <a:buChar char="•"/>
            </a:pPr>
            <a:r>
              <a:rPr lang="en-US" sz="1600" dirty="0"/>
              <a:t>Style guide compliance requires manual enforcement and review.</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2</a:t>
            </a:fld>
            <a:endParaRPr lang="en-US" altLang="zh-CN" noProof="0" dirty="0"/>
          </a:p>
        </p:txBody>
      </p:sp>
      <p:sp>
        <p:nvSpPr>
          <p:cNvPr id="7" name="Title 59">
            <a:extLst>
              <a:ext uri="{FF2B5EF4-FFF2-40B4-BE49-F238E27FC236}">
                <a16:creationId xmlns:a16="http://schemas.microsoft.com/office/drawing/2014/main" id="{CD7F9DC8-B0F4-762B-2F23-BA6DEBD485F4}"/>
              </a:ext>
            </a:extLst>
          </p:cNvPr>
          <p:cNvSpPr txBox="1">
            <a:spLocks/>
          </p:cNvSpPr>
          <p:nvPr/>
        </p:nvSpPr>
        <p:spPr>
          <a:xfrm>
            <a:off x="59968" y="2784430"/>
            <a:ext cx="7132320" cy="69314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342900" indent="-342900">
              <a:buFont typeface="Wingdings" panose="05000000000000000000" pitchFamily="2" charset="2"/>
              <a:buChar char="v"/>
            </a:pPr>
            <a:r>
              <a:rPr lang="en-US" sz="2000" dirty="0"/>
              <a:t>Solution</a:t>
            </a:r>
          </a:p>
        </p:txBody>
      </p:sp>
      <p:sp>
        <p:nvSpPr>
          <p:cNvPr id="8" name="Text Placeholder 42">
            <a:extLst>
              <a:ext uri="{FF2B5EF4-FFF2-40B4-BE49-F238E27FC236}">
                <a16:creationId xmlns:a16="http://schemas.microsoft.com/office/drawing/2014/main" id="{6F4D13C0-2612-D70C-DCBC-AF6177F87B24}"/>
              </a:ext>
            </a:extLst>
          </p:cNvPr>
          <p:cNvSpPr txBox="1">
            <a:spLocks/>
          </p:cNvSpPr>
          <p:nvPr/>
        </p:nvSpPr>
        <p:spPr>
          <a:xfrm>
            <a:off x="167897" y="3601991"/>
            <a:ext cx="7926792" cy="69314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500"/>
              </a:spcBef>
              <a:buFont typeface="Arial" panose="020B0604020202020204" pitchFamily="34" charset="0"/>
              <a:buNone/>
              <a:defRPr sz="1800" kern="1200">
                <a:solidFill>
                  <a:schemeClr val="bg1"/>
                </a:solidFill>
                <a:latin typeface="+mn-lt"/>
                <a:ea typeface="+mn-ea"/>
                <a:cs typeface="+mn-cs"/>
              </a:defRPr>
            </a:lvl1pPr>
            <a:lvl2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Automate the process to generate the release note and evaluate the quality of the content to quickly understand the are improvements. </a:t>
            </a:r>
          </a:p>
        </p:txBody>
      </p:sp>
      <p:sp>
        <p:nvSpPr>
          <p:cNvPr id="4" name="Title 59">
            <a:extLst>
              <a:ext uri="{FF2B5EF4-FFF2-40B4-BE49-F238E27FC236}">
                <a16:creationId xmlns:a16="http://schemas.microsoft.com/office/drawing/2014/main" id="{BD2A86CE-CBFB-CF68-320A-EE561F07E02B}"/>
              </a:ext>
            </a:extLst>
          </p:cNvPr>
          <p:cNvSpPr txBox="1">
            <a:spLocks/>
          </p:cNvSpPr>
          <p:nvPr/>
        </p:nvSpPr>
        <p:spPr>
          <a:xfrm>
            <a:off x="0" y="4036857"/>
            <a:ext cx="7132320" cy="69314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342900" indent="-342900">
              <a:buFont typeface="Wingdings" panose="05000000000000000000" pitchFamily="2" charset="2"/>
              <a:buChar char="v"/>
            </a:pPr>
            <a:r>
              <a:rPr lang="en-US" sz="2000" dirty="0"/>
              <a:t>Users</a:t>
            </a:r>
          </a:p>
        </p:txBody>
      </p:sp>
      <p:sp>
        <p:nvSpPr>
          <p:cNvPr id="6" name="Text Placeholder 42">
            <a:extLst>
              <a:ext uri="{FF2B5EF4-FFF2-40B4-BE49-F238E27FC236}">
                <a16:creationId xmlns:a16="http://schemas.microsoft.com/office/drawing/2014/main" id="{61629836-A9DE-B521-1B29-61467DFBB3CD}"/>
              </a:ext>
            </a:extLst>
          </p:cNvPr>
          <p:cNvSpPr txBox="1">
            <a:spLocks/>
          </p:cNvSpPr>
          <p:nvPr/>
        </p:nvSpPr>
        <p:spPr>
          <a:xfrm>
            <a:off x="107929" y="4854419"/>
            <a:ext cx="7375161" cy="31044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500"/>
              </a:spcBef>
              <a:buFont typeface="Arial" panose="020B0604020202020204" pitchFamily="34" charset="0"/>
              <a:buNone/>
              <a:defRPr sz="1800" kern="1200">
                <a:solidFill>
                  <a:schemeClr val="bg1"/>
                </a:solidFill>
                <a:latin typeface="+mn-lt"/>
                <a:ea typeface="+mn-ea"/>
                <a:cs typeface="+mn-cs"/>
              </a:defRPr>
            </a:lvl1pPr>
            <a:lvl2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Writers, Product Manager, Support Team, End Users</a:t>
            </a:r>
          </a:p>
        </p:txBody>
      </p:sp>
    </p:spTree>
    <p:extLst>
      <p:ext uri="{BB962C8B-B14F-4D97-AF65-F5344CB8AC3E}">
        <p14:creationId xmlns:p14="http://schemas.microsoft.com/office/powerpoint/2010/main" val="418214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F1289-B0C2-E5CC-6977-D8F0492C865F}"/>
            </a:ext>
          </a:extLst>
        </p:cNvPr>
        <p:cNvGrpSpPr/>
        <p:nvPr/>
      </p:nvGrpSpPr>
      <p:grpSpPr>
        <a:xfrm>
          <a:off x="0" y="0"/>
          <a:ext cx="0" cy="0"/>
          <a:chOff x="0" y="0"/>
          <a:chExt cx="0" cy="0"/>
        </a:xfrm>
      </p:grpSpPr>
      <p:sp>
        <p:nvSpPr>
          <p:cNvPr id="11" name="Slide Number Placeholder 13">
            <a:extLst>
              <a:ext uri="{FF2B5EF4-FFF2-40B4-BE49-F238E27FC236}">
                <a16:creationId xmlns:a16="http://schemas.microsoft.com/office/drawing/2014/main" id="{2C04DFAC-43B6-5778-AA84-2E6193B63F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D31F572-DD9B-BB52-4665-D111A3E12634}"/>
              </a:ext>
            </a:extLst>
          </p:cNvPr>
          <p:cNvSpPr>
            <a:spLocks noGrp="1"/>
          </p:cNvSpPr>
          <p:nvPr>
            <p:ph type="sldNum" sz="quarter" idx="55"/>
          </p:nvPr>
        </p:nvSpPr>
        <p:spPr/>
        <p:txBody>
          <a:bodyPr/>
          <a:lstStyle/>
          <a:p>
            <a:fld id="{47FEACEE-25B4-4A2D-B147-27296E36371D}" type="slidenum">
              <a:rPr lang="en-US" altLang="zh-CN" noProof="0" smtClean="0"/>
              <a:pPr/>
              <a:t>3</a:t>
            </a:fld>
            <a:endParaRPr lang="en-US" altLang="zh-CN" noProof="0" dirty="0"/>
          </a:p>
        </p:txBody>
      </p:sp>
      <p:sp>
        <p:nvSpPr>
          <p:cNvPr id="10" name="Title 59">
            <a:extLst>
              <a:ext uri="{FF2B5EF4-FFF2-40B4-BE49-F238E27FC236}">
                <a16:creationId xmlns:a16="http://schemas.microsoft.com/office/drawing/2014/main" id="{6CF57083-AF8E-4564-4EFD-E61FB61B54F1}"/>
              </a:ext>
            </a:extLst>
          </p:cNvPr>
          <p:cNvSpPr txBox="1">
            <a:spLocks/>
          </p:cNvSpPr>
          <p:nvPr/>
        </p:nvSpPr>
        <p:spPr>
          <a:xfrm>
            <a:off x="0" y="337280"/>
            <a:ext cx="7132320" cy="69314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342900" indent="-342900">
              <a:buFont typeface="Wingdings" panose="05000000000000000000" pitchFamily="2" charset="2"/>
              <a:buChar char="v"/>
            </a:pPr>
            <a:r>
              <a:rPr lang="en-US" sz="2000" dirty="0"/>
              <a:t>Input Sources</a:t>
            </a:r>
          </a:p>
        </p:txBody>
      </p:sp>
      <p:sp>
        <p:nvSpPr>
          <p:cNvPr id="13" name="Text Placeholder 42">
            <a:extLst>
              <a:ext uri="{FF2B5EF4-FFF2-40B4-BE49-F238E27FC236}">
                <a16:creationId xmlns:a16="http://schemas.microsoft.com/office/drawing/2014/main" id="{44C17E76-B7F8-D040-E900-F9FDA1424D55}"/>
              </a:ext>
            </a:extLst>
          </p:cNvPr>
          <p:cNvSpPr txBox="1">
            <a:spLocks/>
          </p:cNvSpPr>
          <p:nvPr/>
        </p:nvSpPr>
        <p:spPr>
          <a:xfrm>
            <a:off x="0" y="974063"/>
            <a:ext cx="8511409" cy="139348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500"/>
              </a:spcBef>
              <a:buFont typeface="Arial" panose="020B0604020202020204" pitchFamily="34" charset="0"/>
              <a:buNone/>
              <a:defRPr sz="1800" kern="1200">
                <a:solidFill>
                  <a:schemeClr val="bg1"/>
                </a:solidFill>
                <a:latin typeface="+mn-lt"/>
                <a:ea typeface="+mn-ea"/>
                <a:cs typeface="+mn-cs"/>
              </a:defRPr>
            </a:lvl1pPr>
            <a:lvl2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IN" sz="1600" b="1" dirty="0"/>
              <a:t>tickets.json – </a:t>
            </a:r>
            <a:r>
              <a:rPr lang="en-IN" sz="1600" dirty="0"/>
              <a:t>For this project, I have created a JSON file; a l</a:t>
            </a:r>
            <a:r>
              <a:rPr lang="en-IN" dirty="0"/>
              <a:t>ocal sample data simulating developer tickets with ID, title, type, version, and description.</a:t>
            </a:r>
            <a:endParaRPr lang="en-IN" sz="1600" dirty="0"/>
          </a:p>
          <a:p>
            <a:pPr marL="285750" indent="-285750">
              <a:buFont typeface="Arial" panose="020B0604020202020204" pitchFamily="34" charset="0"/>
              <a:buChar char="•"/>
            </a:pPr>
            <a:r>
              <a:rPr lang="en-IN" sz="1600" b="1" dirty="0"/>
              <a:t>MCP Servers </a:t>
            </a:r>
            <a:r>
              <a:rPr lang="en-IN" sz="1600" dirty="0"/>
              <a:t>– For this project, I have created following two MCP servers:</a:t>
            </a:r>
          </a:p>
          <a:p>
            <a:pPr marL="633222" lvl="1" indent="-285750"/>
            <a:r>
              <a:rPr lang="en-IN" sz="1600" dirty="0"/>
              <a:t>Style Guide Server - Provides w</a:t>
            </a:r>
            <a:r>
              <a:rPr lang="en-IN" dirty="0"/>
              <a:t>riting rules for each issue type (New Feature, Enhancement, Bug)</a:t>
            </a:r>
          </a:p>
          <a:p>
            <a:pPr marL="633222" lvl="1" indent="-285750"/>
            <a:r>
              <a:rPr lang="en-IN" sz="1600" dirty="0"/>
              <a:t>Quality Metrics Server – Evaluate the output file based on  the  defined quality metrics and generates a report for the tech writers. It provides scores based on defined content quality metric and suggestions/recommendations for improvements.</a:t>
            </a:r>
          </a:p>
          <a:p>
            <a:pPr marL="285750" indent="-285750">
              <a:buFont typeface="Arial" panose="020B0604020202020204" pitchFamily="34" charset="0"/>
              <a:buChar char="•"/>
            </a:pPr>
            <a:r>
              <a:rPr lang="en-IN" sz="1600" dirty="0"/>
              <a:t>Skills – For this project I have created the following skills:</a:t>
            </a:r>
          </a:p>
          <a:p>
            <a:pPr marL="633222" lvl="1" indent="-285750"/>
            <a:r>
              <a:rPr lang="en-IN" sz="1600" dirty="0"/>
              <a:t>Generate release notes – A skill based on RTCCO framework to provide the complete instruction to documents based on writing rules, style guide, filename, and file location mentioned in the skill file and the related MCP server.</a:t>
            </a:r>
          </a:p>
          <a:p>
            <a:pPr marL="633222" lvl="1" indent="-285750"/>
            <a:r>
              <a:rPr lang="en-IN" sz="1600" dirty="0"/>
              <a:t>Evaluate release notes – A skill is based on RTCCO framework to provide the complete instruction to evaluate the output file and provide the score and recommendations for improvements.</a:t>
            </a:r>
            <a:endParaRPr lang="en-US" sz="1600" dirty="0"/>
          </a:p>
        </p:txBody>
      </p:sp>
    </p:spTree>
    <p:extLst>
      <p:ext uri="{BB962C8B-B14F-4D97-AF65-F5344CB8AC3E}">
        <p14:creationId xmlns:p14="http://schemas.microsoft.com/office/powerpoint/2010/main" val="3552634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0F9C-45C8-E000-BC20-7E4044B95419}"/>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17B48142-DF80-487B-1367-DC3E45FFC0DE}"/>
              </a:ext>
            </a:extLst>
          </p:cNvPr>
          <p:cNvSpPr>
            <a:spLocks noGrp="1"/>
          </p:cNvSpPr>
          <p:nvPr>
            <p:ph type="title"/>
          </p:nvPr>
        </p:nvSpPr>
        <p:spPr>
          <a:xfrm>
            <a:off x="-47961" y="11395"/>
            <a:ext cx="7132320" cy="693145"/>
          </a:xfrm>
        </p:spPr>
        <p:txBody>
          <a:bodyPr>
            <a:normAutofit/>
          </a:bodyPr>
          <a:lstStyle/>
          <a:p>
            <a:pPr marL="342900" indent="-342900">
              <a:buFont typeface="Wingdings" panose="05000000000000000000" pitchFamily="2" charset="2"/>
              <a:buChar char="v"/>
            </a:pPr>
            <a:r>
              <a:rPr lang="en-US" sz="2000" dirty="0"/>
              <a:t>Expected Output</a:t>
            </a:r>
          </a:p>
        </p:txBody>
      </p:sp>
      <p:sp>
        <p:nvSpPr>
          <p:cNvPr id="43" name="Text Placeholder 42">
            <a:extLst>
              <a:ext uri="{FF2B5EF4-FFF2-40B4-BE49-F238E27FC236}">
                <a16:creationId xmlns:a16="http://schemas.microsoft.com/office/drawing/2014/main" id="{28F852B3-CACE-32DB-5A5C-4FF1EFA8AB4F}"/>
              </a:ext>
            </a:extLst>
          </p:cNvPr>
          <p:cNvSpPr>
            <a:spLocks noGrp="1"/>
          </p:cNvSpPr>
          <p:nvPr>
            <p:ph idx="1"/>
          </p:nvPr>
        </p:nvSpPr>
        <p:spPr>
          <a:xfrm>
            <a:off x="59967" y="828958"/>
            <a:ext cx="8859181" cy="2004184"/>
          </a:xfrm>
        </p:spPr>
        <p:txBody>
          <a:bodyPr>
            <a:normAutofit fontScale="92500" lnSpcReduction="20000"/>
          </a:bodyPr>
          <a:lstStyle/>
          <a:p>
            <a:r>
              <a:rPr lang="en-US" sz="1600" b="1" dirty="0"/>
              <a:t>A polished Markdown file ( release_notes_vX.X.X.md) containing:</a:t>
            </a:r>
          </a:p>
          <a:p>
            <a:pPr marL="285750" indent="-285750">
              <a:buFont typeface="Arial" panose="020B0604020202020204" pitchFamily="34" charset="0"/>
              <a:buChar char="•"/>
            </a:pPr>
            <a:r>
              <a:rPr lang="en-US" sz="1700" dirty="0"/>
              <a:t>Release notes organized by issue type (New Features, Enhancements, Bug Fixes).</a:t>
            </a:r>
          </a:p>
          <a:p>
            <a:pPr marL="285750" indent="-285750">
              <a:buFont typeface="Arial" panose="020B0604020202020204" pitchFamily="34" charset="0"/>
              <a:buChar char="•"/>
            </a:pPr>
            <a:r>
              <a:rPr lang="en-US" sz="1700" dirty="0"/>
              <a:t>Captures the significant release benefits and generate a Release Highlights.</a:t>
            </a:r>
          </a:p>
          <a:p>
            <a:pPr marL="285750" indent="-285750">
              <a:buFont typeface="Arial" panose="020B0604020202020204" pitchFamily="34" charset="0"/>
              <a:buChar char="•"/>
            </a:pPr>
            <a:r>
              <a:rPr lang="en-US" sz="1700" dirty="0"/>
              <a:t>Strict adherence to the company's style guide for each section.</a:t>
            </a:r>
          </a:p>
          <a:p>
            <a:pPr marL="285750" indent="-285750">
              <a:buFont typeface="Arial" panose="020B0604020202020204" pitchFamily="34" charset="0"/>
              <a:buChar char="•"/>
            </a:pPr>
            <a:r>
              <a:rPr lang="en-US" sz="1700" dirty="0"/>
              <a:t>Evaluate and generate a quality report for tech writers to view and decide the area of improvement with assistance through recommendations.</a:t>
            </a:r>
          </a:p>
        </p:txBody>
      </p:sp>
      <p:sp>
        <p:nvSpPr>
          <p:cNvPr id="11" name="Slide Number Placeholder 13">
            <a:extLst>
              <a:ext uri="{FF2B5EF4-FFF2-40B4-BE49-F238E27FC236}">
                <a16:creationId xmlns:a16="http://schemas.microsoft.com/office/drawing/2014/main" id="{6F8D80B7-F15C-AEAE-E46E-903A8D147A4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366E2351-CAE9-9DD8-80A3-D43639515CAD}"/>
              </a:ext>
            </a:extLst>
          </p:cNvPr>
          <p:cNvSpPr>
            <a:spLocks noGrp="1"/>
          </p:cNvSpPr>
          <p:nvPr>
            <p:ph type="sldNum" sz="quarter" idx="55"/>
          </p:nvPr>
        </p:nvSpPr>
        <p:spPr/>
        <p:txBody>
          <a:bodyPr/>
          <a:lstStyle/>
          <a:p>
            <a:fld id="{47FEACEE-25B4-4A2D-B147-27296E36371D}" type="slidenum">
              <a:rPr lang="en-US" altLang="zh-CN" noProof="0" smtClean="0"/>
              <a:pPr/>
              <a:t>4</a:t>
            </a:fld>
            <a:endParaRPr lang="en-US" altLang="zh-CN" noProof="0" dirty="0"/>
          </a:p>
        </p:txBody>
      </p:sp>
      <p:sp>
        <p:nvSpPr>
          <p:cNvPr id="7" name="Title 59">
            <a:extLst>
              <a:ext uri="{FF2B5EF4-FFF2-40B4-BE49-F238E27FC236}">
                <a16:creationId xmlns:a16="http://schemas.microsoft.com/office/drawing/2014/main" id="{66010F2F-7949-1269-B660-F7F12E579704}"/>
              </a:ext>
            </a:extLst>
          </p:cNvPr>
          <p:cNvSpPr txBox="1">
            <a:spLocks/>
          </p:cNvSpPr>
          <p:nvPr/>
        </p:nvSpPr>
        <p:spPr>
          <a:xfrm>
            <a:off x="59968" y="2499613"/>
            <a:ext cx="7132320" cy="69314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342900" indent="-342900">
              <a:buFont typeface="Wingdings" panose="05000000000000000000" pitchFamily="2" charset="2"/>
              <a:buChar char="v"/>
            </a:pPr>
            <a:r>
              <a:rPr lang="en-US" sz="2000" dirty="0"/>
              <a:t>Exclusions</a:t>
            </a:r>
          </a:p>
        </p:txBody>
      </p:sp>
      <p:sp>
        <p:nvSpPr>
          <p:cNvPr id="8" name="Text Placeholder 42">
            <a:extLst>
              <a:ext uri="{FF2B5EF4-FFF2-40B4-BE49-F238E27FC236}">
                <a16:creationId xmlns:a16="http://schemas.microsoft.com/office/drawing/2014/main" id="{BF09563C-DABC-3E6B-7350-B3BBCF3748DD}"/>
              </a:ext>
            </a:extLst>
          </p:cNvPr>
          <p:cNvSpPr txBox="1">
            <a:spLocks/>
          </p:cNvSpPr>
          <p:nvPr/>
        </p:nvSpPr>
        <p:spPr>
          <a:xfrm>
            <a:off x="167897" y="3317175"/>
            <a:ext cx="7375161" cy="139348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500"/>
              </a:spcBef>
              <a:buFont typeface="Arial" panose="020B0604020202020204" pitchFamily="34" charset="0"/>
              <a:buNone/>
              <a:defRPr sz="1800" kern="1200">
                <a:solidFill>
                  <a:schemeClr val="bg1"/>
                </a:solidFill>
                <a:latin typeface="+mn-lt"/>
                <a:ea typeface="+mn-ea"/>
                <a:cs typeface="+mn-cs"/>
              </a:defRPr>
            </a:lvl1pPr>
            <a:lvl2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This AI Agent does not:</a:t>
            </a:r>
          </a:p>
          <a:p>
            <a:pPr marL="285750" indent="-285750">
              <a:buFont typeface="Arial" panose="020B0604020202020204" pitchFamily="34" charset="0"/>
              <a:buChar char="•"/>
            </a:pPr>
            <a:r>
              <a:rPr lang="en-US" sz="1600" dirty="0"/>
              <a:t>Publish directly to websites, Confluence, or email.</a:t>
            </a:r>
          </a:p>
          <a:p>
            <a:pPr marL="285750" indent="-285750">
              <a:buFont typeface="Arial" panose="020B0604020202020204" pitchFamily="34" charset="0"/>
              <a:buChar char="•"/>
            </a:pPr>
            <a:r>
              <a:rPr lang="en-US" sz="1600" dirty="0"/>
              <a:t>Generate release notes in multiple languages.</a:t>
            </a:r>
          </a:p>
          <a:p>
            <a:endParaRPr lang="en-US" sz="1600" dirty="0"/>
          </a:p>
        </p:txBody>
      </p:sp>
      <p:sp>
        <p:nvSpPr>
          <p:cNvPr id="10" name="Title 59">
            <a:extLst>
              <a:ext uri="{FF2B5EF4-FFF2-40B4-BE49-F238E27FC236}">
                <a16:creationId xmlns:a16="http://schemas.microsoft.com/office/drawing/2014/main" id="{F0F6D5AC-AEE4-1FCF-9199-1CA3BFE9EA41}"/>
              </a:ext>
            </a:extLst>
          </p:cNvPr>
          <p:cNvSpPr txBox="1">
            <a:spLocks/>
          </p:cNvSpPr>
          <p:nvPr/>
        </p:nvSpPr>
        <p:spPr>
          <a:xfrm>
            <a:off x="59968" y="4384621"/>
            <a:ext cx="7132320" cy="69314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342900" indent="-342900">
              <a:buFont typeface="Wingdings" panose="05000000000000000000" pitchFamily="2" charset="2"/>
              <a:buChar char="v"/>
            </a:pPr>
            <a:r>
              <a:rPr lang="en-US" sz="2000" dirty="0"/>
              <a:t>Success Criteria</a:t>
            </a:r>
          </a:p>
        </p:txBody>
      </p:sp>
      <p:sp>
        <p:nvSpPr>
          <p:cNvPr id="13" name="Text Placeholder 42">
            <a:extLst>
              <a:ext uri="{FF2B5EF4-FFF2-40B4-BE49-F238E27FC236}">
                <a16:creationId xmlns:a16="http://schemas.microsoft.com/office/drawing/2014/main" id="{67CAF2CB-762C-EF84-AD63-9C4C8152E8DA}"/>
              </a:ext>
            </a:extLst>
          </p:cNvPr>
          <p:cNvSpPr txBox="1">
            <a:spLocks/>
          </p:cNvSpPr>
          <p:nvPr/>
        </p:nvSpPr>
        <p:spPr>
          <a:xfrm>
            <a:off x="167896" y="5172203"/>
            <a:ext cx="8511409" cy="139348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500"/>
              </a:spcBef>
              <a:buFont typeface="Arial" panose="020B0604020202020204" pitchFamily="34" charset="0"/>
              <a:buNone/>
              <a:defRPr sz="1800" kern="1200">
                <a:solidFill>
                  <a:schemeClr val="bg1"/>
                </a:solidFill>
                <a:latin typeface="+mn-lt"/>
                <a:ea typeface="+mn-ea"/>
                <a:cs typeface="+mn-cs"/>
              </a:defRPr>
            </a:lvl1pPr>
            <a:lvl2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t>Speed – Release notes generated in minutes, not days</a:t>
            </a:r>
            <a:r>
              <a:rPr lang="en-IN" sz="1600" dirty="0"/>
              <a:t>.</a:t>
            </a:r>
          </a:p>
          <a:p>
            <a:pPr marL="285750" indent="-285750">
              <a:buFont typeface="Arial" panose="020B0604020202020204" pitchFamily="34" charset="0"/>
              <a:buChar char="•"/>
            </a:pPr>
            <a:r>
              <a:rPr lang="en-US" sz="1600" dirty="0"/>
              <a:t>Scalability – Works for any version, any number of tickets, any issue type</a:t>
            </a:r>
            <a:r>
              <a:rPr lang="en-IN" sz="1600" dirty="0"/>
              <a:t>).</a:t>
            </a:r>
          </a:p>
          <a:p>
            <a:pPr marL="285750" indent="-285750">
              <a:buFont typeface="Arial" panose="020B0604020202020204" pitchFamily="34" charset="0"/>
              <a:buChar char="•"/>
            </a:pPr>
            <a:r>
              <a:rPr lang="en-IN" sz="1600" dirty="0"/>
              <a:t>Consistency – </a:t>
            </a:r>
            <a:r>
              <a:rPr lang="en-US" sz="1600" dirty="0"/>
              <a:t>100% adherence to style guide rules across all issue types.</a:t>
            </a:r>
          </a:p>
          <a:p>
            <a:pPr marL="285750" indent="-285750">
              <a:buFont typeface="Arial" panose="020B0604020202020204" pitchFamily="34" charset="0"/>
              <a:buChar char="•"/>
            </a:pPr>
            <a:r>
              <a:rPr lang="en-US" sz="1600" dirty="0"/>
              <a:t>Readability – No technical jargons and easy to read and understand for end users.</a:t>
            </a:r>
            <a:r>
              <a:rPr lang="en-IN" sz="1600" dirty="0"/>
              <a:t>	 </a:t>
            </a:r>
            <a:endParaRPr lang="en-US" sz="1600" dirty="0"/>
          </a:p>
        </p:txBody>
      </p:sp>
    </p:spTree>
    <p:extLst>
      <p:ext uri="{BB962C8B-B14F-4D97-AF65-F5344CB8AC3E}">
        <p14:creationId xmlns:p14="http://schemas.microsoft.com/office/powerpoint/2010/main" val="559441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ACDE3-35EE-7207-AE4A-5D732A8F3A99}"/>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70BA1602-2F04-1A7D-EAE5-D7FDA4D8370F}"/>
              </a:ext>
            </a:extLst>
          </p:cNvPr>
          <p:cNvSpPr>
            <a:spLocks noGrp="1"/>
          </p:cNvSpPr>
          <p:nvPr>
            <p:ph type="title"/>
          </p:nvPr>
        </p:nvSpPr>
        <p:spPr>
          <a:xfrm>
            <a:off x="-47961" y="206265"/>
            <a:ext cx="7132320" cy="693145"/>
          </a:xfrm>
        </p:spPr>
        <p:txBody>
          <a:bodyPr>
            <a:normAutofit/>
          </a:bodyPr>
          <a:lstStyle/>
          <a:p>
            <a:pPr marL="342900" indent="-342900">
              <a:buFont typeface="Wingdings" panose="05000000000000000000" pitchFamily="2" charset="2"/>
              <a:buChar char="v"/>
            </a:pPr>
            <a:r>
              <a:rPr lang="en-US" sz="2000" dirty="0"/>
              <a:t>Workshop Learnings</a:t>
            </a:r>
          </a:p>
        </p:txBody>
      </p:sp>
      <p:sp>
        <p:nvSpPr>
          <p:cNvPr id="43" name="Text Placeholder 42">
            <a:extLst>
              <a:ext uri="{FF2B5EF4-FFF2-40B4-BE49-F238E27FC236}">
                <a16:creationId xmlns:a16="http://schemas.microsoft.com/office/drawing/2014/main" id="{B855793F-AB32-1113-8409-5C4E4DC06768}"/>
              </a:ext>
            </a:extLst>
          </p:cNvPr>
          <p:cNvSpPr>
            <a:spLocks noGrp="1"/>
          </p:cNvSpPr>
          <p:nvPr>
            <p:ph idx="1"/>
          </p:nvPr>
        </p:nvSpPr>
        <p:spPr>
          <a:xfrm>
            <a:off x="59968" y="1023828"/>
            <a:ext cx="8169632" cy="2618782"/>
          </a:xfrm>
        </p:spPr>
        <p:txBody>
          <a:bodyPr>
            <a:normAutofit/>
          </a:bodyPr>
          <a:lstStyle/>
          <a:p>
            <a:pPr marL="285750" indent="-285750">
              <a:buFont typeface="Arial" panose="020B0604020202020204" pitchFamily="34" charset="0"/>
              <a:buChar char="•"/>
            </a:pPr>
            <a:r>
              <a:rPr lang="en-US" sz="1600" dirty="0"/>
              <a:t>Created a skill file based on RTCCO framework to generate the release notes and evaluate the content quality.</a:t>
            </a:r>
          </a:p>
          <a:p>
            <a:pPr marL="285750" indent="-285750">
              <a:buFont typeface="Arial" panose="020B0604020202020204" pitchFamily="34" charset="0"/>
              <a:buChar char="•"/>
            </a:pPr>
            <a:r>
              <a:rPr lang="en-US" sz="1600" dirty="0"/>
              <a:t>Used </a:t>
            </a:r>
            <a:r>
              <a:rPr lang="en-US" sz="1600" dirty="0">
                <a:solidFill>
                  <a:srgbClr val="00B050"/>
                </a:solidFill>
              </a:rPr>
              <a:t>$Arguments</a:t>
            </a:r>
            <a:r>
              <a:rPr lang="en-US" sz="1600" dirty="0"/>
              <a:t> in skill which enable the Agent to ask the required query while processing ang generating the output file.</a:t>
            </a:r>
          </a:p>
          <a:p>
            <a:pPr marL="285750" indent="-285750">
              <a:buFont typeface="Arial" panose="020B0604020202020204" pitchFamily="34" charset="0"/>
              <a:buChar char="•"/>
            </a:pPr>
            <a:r>
              <a:rPr lang="en-US" sz="1600" dirty="0"/>
              <a:t>Created a MCP server for style guide that helps to generate the content based on specific writing rules mentioned in the MCP server and for quality metric providing the report for letting the tech writer gauge the quality of content and area of improvements based on recommendation provided in the report.</a:t>
            </a:r>
          </a:p>
        </p:txBody>
      </p:sp>
      <p:sp>
        <p:nvSpPr>
          <p:cNvPr id="11" name="Slide Number Placeholder 13">
            <a:extLst>
              <a:ext uri="{FF2B5EF4-FFF2-40B4-BE49-F238E27FC236}">
                <a16:creationId xmlns:a16="http://schemas.microsoft.com/office/drawing/2014/main" id="{353B4FF4-489A-A84B-344F-08B33115988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A22110D-AE8F-1F6C-CA5C-6CB35E8399BE}"/>
              </a:ext>
            </a:extLst>
          </p:cNvPr>
          <p:cNvSpPr>
            <a:spLocks noGrp="1"/>
          </p:cNvSpPr>
          <p:nvPr>
            <p:ph type="sldNum" sz="quarter" idx="55"/>
          </p:nvPr>
        </p:nvSpPr>
        <p:spPr/>
        <p:txBody>
          <a:bodyPr/>
          <a:lstStyle/>
          <a:p>
            <a:fld id="{47FEACEE-25B4-4A2D-B147-27296E36371D}" type="slidenum">
              <a:rPr lang="en-US" altLang="zh-CN" noProof="0" smtClean="0"/>
              <a:pPr/>
              <a:t>5</a:t>
            </a:fld>
            <a:endParaRPr lang="en-US" altLang="zh-CN" noProof="0" dirty="0"/>
          </a:p>
        </p:txBody>
      </p:sp>
      <p:sp>
        <p:nvSpPr>
          <p:cNvPr id="3" name="Text Placeholder 42">
            <a:extLst>
              <a:ext uri="{FF2B5EF4-FFF2-40B4-BE49-F238E27FC236}">
                <a16:creationId xmlns:a16="http://schemas.microsoft.com/office/drawing/2014/main" id="{8497FDB0-B667-30C5-8841-0C5279AB9A6E}"/>
              </a:ext>
            </a:extLst>
          </p:cNvPr>
          <p:cNvSpPr txBox="1">
            <a:spLocks/>
          </p:cNvSpPr>
          <p:nvPr/>
        </p:nvSpPr>
        <p:spPr>
          <a:xfrm>
            <a:off x="59968" y="4334081"/>
            <a:ext cx="8169632" cy="49275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500"/>
              </a:spcBef>
              <a:buFont typeface="Arial" panose="020B0604020202020204" pitchFamily="34" charset="0"/>
              <a:buNone/>
              <a:defRPr sz="1800" kern="1200">
                <a:solidFill>
                  <a:schemeClr val="bg1"/>
                </a:solidFill>
                <a:latin typeface="+mn-lt"/>
                <a:ea typeface="+mn-ea"/>
                <a:cs typeface="+mn-cs"/>
              </a:defRPr>
            </a:lvl1pPr>
            <a:lvl2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t>GitHub link: </a:t>
            </a:r>
            <a:r>
              <a:rPr lang="en-US" sz="1600" dirty="0">
                <a:hlinkClick r:id="rId3"/>
              </a:rPr>
              <a:t>https://github.com/RCG1412/ai-release-notes-demo.git</a:t>
            </a:r>
            <a:r>
              <a:rPr lang="en-US" sz="1600" dirty="0"/>
              <a:t> </a:t>
            </a:r>
          </a:p>
        </p:txBody>
      </p:sp>
      <p:sp>
        <p:nvSpPr>
          <p:cNvPr id="4" name="Title 59">
            <a:extLst>
              <a:ext uri="{FF2B5EF4-FFF2-40B4-BE49-F238E27FC236}">
                <a16:creationId xmlns:a16="http://schemas.microsoft.com/office/drawing/2014/main" id="{CF2F132A-61C7-7584-3ECD-258DAE2DDF6E}"/>
              </a:ext>
            </a:extLst>
          </p:cNvPr>
          <p:cNvSpPr txBox="1">
            <a:spLocks/>
          </p:cNvSpPr>
          <p:nvPr/>
        </p:nvSpPr>
        <p:spPr>
          <a:xfrm>
            <a:off x="-47961" y="3463477"/>
            <a:ext cx="7132320" cy="69314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342900" indent="-342900">
              <a:buFont typeface="Wingdings" panose="05000000000000000000" pitchFamily="2" charset="2"/>
              <a:buChar char="v"/>
            </a:pPr>
            <a:r>
              <a:rPr lang="en-US" sz="2000" dirty="0"/>
              <a:t>Repo</a:t>
            </a:r>
          </a:p>
        </p:txBody>
      </p:sp>
    </p:spTree>
    <p:extLst>
      <p:ext uri="{BB962C8B-B14F-4D97-AF65-F5344CB8AC3E}">
        <p14:creationId xmlns:p14="http://schemas.microsoft.com/office/powerpoint/2010/main" val="312891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274883" y="1325880"/>
            <a:ext cx="5394960" cy="2103120"/>
          </a:xfrm>
        </p:spPr>
        <p:txBody>
          <a:bodyPr/>
          <a:lstStyle/>
          <a:p>
            <a:r>
              <a:rPr lang="en-US" dirty="0"/>
              <a:t>Thank you</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{5216E569-0CBB-4D4E-A4AC-90AED47F9DA7}TF63aebcec-8e39-4664-940a-dd6c2f00c54d020a9832_win32-3cdd3ee32610</Template>
  <TotalTime>957</TotalTime>
  <Words>583</Words>
  <Application>Microsoft Office PowerPoint</Application>
  <PresentationFormat>Widescreen</PresentationFormat>
  <Paragraphs>55</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等线</vt:lpstr>
      <vt:lpstr>Abadi</vt:lpstr>
      <vt:lpstr>Arial</vt:lpstr>
      <vt:lpstr>Calibri</vt:lpstr>
      <vt:lpstr>Posterama</vt:lpstr>
      <vt:lpstr>Posterama Text SemiBold</vt:lpstr>
      <vt:lpstr>Wingdings</vt:lpstr>
      <vt:lpstr>Custom</vt:lpstr>
      <vt:lpstr>Capstone Project Demo   Release Notes Generator</vt:lpstr>
      <vt:lpstr>Problem Statement: Release Note – A manual bottleneck</vt:lpstr>
      <vt:lpstr>PowerPoint Presentation</vt:lpstr>
      <vt:lpstr>Expected Output</vt:lpstr>
      <vt:lpstr>Workshop Learnings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Gupta</dc:creator>
  <cp:lastModifiedBy>Rohit Gupta</cp:lastModifiedBy>
  <cp:revision>18</cp:revision>
  <dcterms:created xsi:type="dcterms:W3CDTF">2026-10-01T14:16:00Z</dcterms:created>
  <dcterms:modified xsi:type="dcterms:W3CDTF">2026-10-04T06:48:47Z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